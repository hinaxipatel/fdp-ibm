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62" r:id="rId9"/>
    <p:sldId id="264" r:id="rId10"/>
    <p:sldId id="277" r:id="rId11"/>
    <p:sldId id="290" r:id="rId12"/>
    <p:sldId id="293" r:id="rId13"/>
    <p:sldId id="286" r:id="rId14"/>
    <p:sldId id="287" r:id="rId15"/>
    <p:sldId id="280" r:id="rId16"/>
    <p:sldId id="288" r:id="rId17"/>
    <p:sldId id="291" r:id="rId18"/>
    <p:sldId id="292"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3647609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6715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2228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6434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4206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79565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476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87739665"/>
              </p:ext>
            </p:extLst>
          </p:nvPr>
        </p:nvGraphicFramePr>
        <p:xfrm>
          <a:off x="1299257" y="2600314"/>
          <a:ext cx="9394989" cy="2557473"/>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11485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408936">
                <a:tc>
                  <a:txBody>
                    <a:bodyPr/>
                    <a:lstStyle/>
                    <a:p>
                      <a:pPr marL="0" marR="0" lvl="0" indent="0" algn="ctr" rtl="0">
                        <a:spcBef>
                          <a:spcPts val="0"/>
                        </a:spcBef>
                        <a:spcAft>
                          <a:spcPts val="0"/>
                        </a:spcAft>
                        <a:buNone/>
                      </a:pPr>
                      <a:r>
                        <a:rPr lang="en-IN" sz="2000" dirty="0" smtClean="0"/>
                        <a:t>Hinaxiben</a:t>
                      </a:r>
                      <a:r>
                        <a:rPr lang="en-IN" sz="2000" baseline="0" dirty="0" smtClean="0"/>
                        <a:t> Patel</a:t>
                      </a:r>
                      <a:endParaRPr sz="20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2000"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2000" dirty="0" smtClean="0"/>
                        <a:t>hinaxi.patel@bvmengineering.ac.in</a:t>
                      </a:r>
                      <a:endParaRPr sz="20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2000" dirty="0" smtClean="0"/>
                        <a:t>8866338060</a:t>
                      </a:r>
                      <a:endParaRPr sz="20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000" b="1" dirty="0"/>
              <a:t>Education</a:t>
            </a:r>
            <a:endParaRPr lang="en-IN" sz="2000" b="1" dirty="0"/>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a:t>
            </a:r>
            <a:r>
              <a:rPr lang="en-US" sz="2400" b="1" dirty="0" smtClean="0"/>
              <a:t>– </a:t>
            </a:r>
            <a:r>
              <a:rPr lang="en-IN" sz="2400" b="1" dirty="0"/>
              <a:t>Social Media Agent </a:t>
            </a:r>
            <a:endParaRPr lang="en-IN" sz="2400" b="1"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0999" y="3937319"/>
            <a:ext cx="1355375" cy="11753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078313"/>
          </a:xfrm>
          <a:prstGeom prst="rect">
            <a:avLst/>
          </a:prstGeom>
          <a:noFill/>
        </p:spPr>
        <p:txBody>
          <a:bodyPr wrap="square" rtlCol="0">
            <a:spAutoFit/>
          </a:bodyPr>
          <a:lstStyle/>
          <a:p>
            <a:pPr marL="342900" indent="-342900" algn="just">
              <a:buFont typeface="Arial" panose="020B0604020202020204" pitchFamily="34" charset="0"/>
              <a:buChar char="•"/>
            </a:pPr>
            <a:r>
              <a:rPr lang="en-US" sz="1800" b="1" dirty="0"/>
              <a:t>The Challenge </a:t>
            </a:r>
          </a:p>
          <a:p>
            <a:pPr marL="342900" lvl="8" indent="-342900" algn="just">
              <a:buFont typeface="Arial" panose="020B0604020202020204" pitchFamily="34" charset="0"/>
              <a:buChar char="•"/>
            </a:pPr>
            <a:r>
              <a:rPr lang="en-US" sz="1800" dirty="0"/>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analyze, predict, and recommend actions in real time. </a:t>
            </a:r>
          </a:p>
          <a:p>
            <a:pPr marL="342900" indent="-342900" algn="just">
              <a:buFont typeface="Arial" panose="020B0604020202020204" pitchFamily="34" charset="0"/>
              <a:buChar char="•"/>
            </a:pPr>
            <a:r>
              <a:rPr lang="en-US" sz="1800" b="1" dirty="0"/>
              <a:t>The Objective </a:t>
            </a:r>
          </a:p>
          <a:p>
            <a:pPr marL="342900" indent="-342900" algn="just">
              <a:buFont typeface="Arial" panose="020B0604020202020204" pitchFamily="34" charset="0"/>
              <a:buChar char="•"/>
            </a:pPr>
            <a:r>
              <a:rPr lang="en-US" sz="1800" dirty="0"/>
              <a:t>Build an </a:t>
            </a:r>
            <a:r>
              <a:rPr lang="en-US" sz="1800" dirty="0" err="1"/>
              <a:t>agentic</a:t>
            </a:r>
            <a:r>
              <a:rPr lang="en-US" sz="1800" dirty="0"/>
              <a:t> AI application that acts as an intelligent social media companion. The solution should: </a:t>
            </a:r>
          </a:p>
          <a:p>
            <a:pPr marL="342900" lvl="5" indent="-342900" algn="just">
              <a:buFont typeface="Arial" panose="020B0604020202020204" pitchFamily="34" charset="0"/>
              <a:buChar char="•"/>
            </a:pPr>
            <a:r>
              <a:rPr lang="en-US" sz="1800" b="1" dirty="0"/>
              <a:t>Fuse Multichannel Data </a:t>
            </a:r>
            <a:r>
              <a:rPr lang="en-US" sz="1800" dirty="0"/>
              <a:t>:- Collect and synthesize content, comments, hashtags, and competitor posts from platforms like X, LinkedIn, </a:t>
            </a:r>
            <a:r>
              <a:rPr lang="en-US" sz="1800" dirty="0" err="1"/>
              <a:t>Instagram</a:t>
            </a:r>
            <a:r>
              <a:rPr lang="en-US" sz="1800" dirty="0"/>
              <a:t>, and Facebook into unified insights. </a:t>
            </a:r>
          </a:p>
          <a:p>
            <a:pPr marL="342900" indent="-342900" algn="just">
              <a:buFont typeface="Arial" panose="020B0604020202020204" pitchFamily="34" charset="0"/>
              <a:buChar char="•"/>
            </a:pPr>
            <a:r>
              <a:rPr lang="en-US" sz="1800" b="1" dirty="0"/>
              <a:t>Enable Multimodal Interaction </a:t>
            </a:r>
            <a:r>
              <a:rPr lang="en-US" sz="1800" dirty="0"/>
              <a:t>:- Accept user inputs (text, images, or voice prompts) and generate creative post drafts, captions, or campaign ideas aligned with brand tone. </a:t>
            </a:r>
          </a:p>
          <a:p>
            <a:pPr marL="342900" indent="-342900" algn="just">
              <a:buFont typeface="Arial" panose="020B0604020202020204" pitchFamily="34" charset="0"/>
              <a:buChar char="•"/>
            </a:pPr>
            <a:r>
              <a:rPr lang="en-US" sz="1800" b="1" dirty="0"/>
              <a:t>Create a Predictive &amp; </a:t>
            </a:r>
            <a:r>
              <a:rPr lang="en-US" sz="1800" b="1" dirty="0" err="1"/>
              <a:t>Agentic</a:t>
            </a:r>
            <a:r>
              <a:rPr lang="en-US" sz="1800" b="1" dirty="0"/>
              <a:t> Layer :- </a:t>
            </a:r>
            <a:r>
              <a:rPr lang="en-US" sz="1800" dirty="0"/>
              <a:t>Forecast trending hashtags, audience sentiment shifts, and competitor engagement patterns while suggesting the best posting schedules. </a:t>
            </a:r>
          </a:p>
          <a:p>
            <a:pPr marL="342900" indent="-342900" algn="just">
              <a:buFont typeface="Arial" panose="020B0604020202020204" pitchFamily="34" charset="0"/>
              <a:buChar char="•"/>
            </a:pPr>
            <a:r>
              <a:rPr lang="en-US" sz="1800" b="1" dirty="0"/>
              <a:t>Visualize Social Media Pulse :- </a:t>
            </a:r>
            <a:r>
              <a:rPr lang="en-US" sz="1800" dirty="0"/>
              <a:t>Provide a dashboard with real-time analytics—engagement trends, influencer mapping, sentiment tracking, and campaign performance forecasts. </a:t>
            </a:r>
          </a:p>
          <a:p>
            <a:pPr algn="just"/>
            <a:endParaRPr lang="en-US" sz="1800"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a:t>
            </a:r>
            <a:r>
              <a:rPr lang="en-US" sz="2400" b="1" dirty="0" smtClean="0"/>
              <a:t>Statement No. 10 </a:t>
            </a:r>
            <a:r>
              <a:rPr lang="en-US" sz="2400" b="1" dirty="0" smtClean="0"/>
              <a:t>: </a:t>
            </a:r>
            <a:r>
              <a:rPr lang="en-IN" sz="2400" b="1" dirty="0"/>
              <a:t>Social Media Agent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822853"/>
            <a:ext cx="10607040" cy="6124754"/>
          </a:xfrm>
          <a:prstGeom prst="rect">
            <a:avLst/>
          </a:prstGeom>
          <a:noFill/>
        </p:spPr>
        <p:txBody>
          <a:bodyPr wrap="square" rtlCol="0">
            <a:spAutoFit/>
          </a:bodyPr>
          <a:lstStyle/>
          <a:p>
            <a:pPr algn="just"/>
            <a:r>
              <a:rPr lang="en-US" dirty="0" smtClean="0"/>
              <a:t>The </a:t>
            </a:r>
            <a:r>
              <a:rPr lang="en-US" dirty="0"/>
              <a:t>proposed solution is a multi-agent  </a:t>
            </a:r>
            <a:r>
              <a:rPr lang="en-US" dirty="0" smtClean="0"/>
              <a:t>“</a:t>
            </a:r>
            <a:r>
              <a:rPr lang="en-US" b="1" dirty="0" smtClean="0"/>
              <a:t>Social </a:t>
            </a:r>
            <a:r>
              <a:rPr lang="en-US" b="1" dirty="0"/>
              <a:t>Media </a:t>
            </a:r>
            <a:r>
              <a:rPr lang="en-US" b="1" dirty="0" smtClean="0"/>
              <a:t>Agent” </a:t>
            </a:r>
            <a:r>
              <a:rPr lang="en-US" dirty="0" smtClean="0"/>
              <a:t>built </a:t>
            </a:r>
            <a:r>
              <a:rPr lang="en-US" dirty="0"/>
              <a:t>using </a:t>
            </a:r>
            <a:r>
              <a:rPr lang="en-US" b="1" dirty="0" err="1" smtClean="0"/>
              <a:t>LangFlow</a:t>
            </a:r>
            <a:r>
              <a:rPr lang="en-US" dirty="0" smtClean="0"/>
              <a:t>, </a:t>
            </a:r>
            <a:r>
              <a:rPr lang="en-US" b="1" dirty="0" smtClean="0"/>
              <a:t>IBM watsonx.ai</a:t>
            </a:r>
            <a:r>
              <a:rPr lang="en-US" dirty="0" smtClean="0"/>
              <a:t>, </a:t>
            </a:r>
            <a:r>
              <a:rPr lang="en-US" dirty="0"/>
              <a:t>and </a:t>
            </a:r>
            <a:r>
              <a:rPr lang="en-US" b="1" dirty="0" smtClean="0"/>
              <a:t>IBM </a:t>
            </a:r>
            <a:r>
              <a:rPr lang="en-US" b="1" dirty="0"/>
              <a:t>Granite </a:t>
            </a:r>
            <a:r>
              <a:rPr lang="en-US" b="1" dirty="0" smtClean="0"/>
              <a:t>Models</a:t>
            </a:r>
            <a:r>
              <a:rPr lang="en-US" dirty="0" smtClean="0"/>
              <a:t> </a:t>
            </a:r>
            <a:r>
              <a:rPr lang="en-US" dirty="0"/>
              <a:t>to automate the creation, review, and optimization of high-quality social media content. The system addresses challenges such as time-consuming content creation, inconsistent messaging, and platform-specific content adaptation through an intelligent, modular architecture.</a:t>
            </a:r>
          </a:p>
          <a:p>
            <a:pPr algn="just"/>
            <a:r>
              <a:rPr lang="en-US" dirty="0" smtClean="0"/>
              <a:t>At </a:t>
            </a:r>
            <a:r>
              <a:rPr lang="en-US" dirty="0"/>
              <a:t>its core, the solution utilizes </a:t>
            </a:r>
            <a:r>
              <a:rPr lang="en-US" b="1" dirty="0" err="1" smtClean="0"/>
              <a:t>LangFlow</a:t>
            </a:r>
            <a:r>
              <a:rPr lang="en-US" dirty="0" smtClean="0"/>
              <a:t> </a:t>
            </a:r>
            <a:r>
              <a:rPr lang="en-US" dirty="0"/>
              <a:t>to orchestrate multiple AI agents while leveraging </a:t>
            </a:r>
            <a:r>
              <a:rPr lang="en-US" b="1" dirty="0" smtClean="0"/>
              <a:t>IBM watsonx.ai </a:t>
            </a:r>
            <a:r>
              <a:rPr lang="en-US" dirty="0" smtClean="0"/>
              <a:t>to </a:t>
            </a:r>
            <a:r>
              <a:rPr lang="en-US" dirty="0"/>
              <a:t>access Granite foundation models for natural language understanding, content generation, and optimization. Users simply provide a topic, target platform, audience, campaign objective, and preferred tone, and the system generates a polished, publication-ready social media post.</a:t>
            </a:r>
          </a:p>
          <a:p>
            <a:pPr algn="just"/>
            <a:endParaRPr lang="en-US" dirty="0"/>
          </a:p>
          <a:p>
            <a:pPr algn="just"/>
            <a:r>
              <a:rPr lang="en-US" b="1" dirty="0"/>
              <a:t>The system consists of two key agents:</a:t>
            </a:r>
          </a:p>
          <a:p>
            <a:pPr marL="342900" indent="-342900" algn="just">
              <a:buFont typeface="+mj-lt"/>
              <a:buAutoNum type="arabicPeriod"/>
            </a:pPr>
            <a:r>
              <a:rPr lang="en-US" b="1" dirty="0" smtClean="0"/>
              <a:t>Content </a:t>
            </a:r>
            <a:r>
              <a:rPr lang="en-US" b="1" dirty="0"/>
              <a:t>Generation </a:t>
            </a:r>
            <a:r>
              <a:rPr lang="en-US" b="1" dirty="0" smtClean="0"/>
              <a:t>Agent</a:t>
            </a:r>
            <a:r>
              <a:rPr lang="en-US" dirty="0" smtClean="0"/>
              <a:t> </a:t>
            </a:r>
            <a:r>
              <a:rPr lang="en-US" dirty="0"/>
              <a:t>analyzes the user's requirements and creates engaging, platform-specific social media content for platforms such as LinkedIn, </a:t>
            </a:r>
            <a:r>
              <a:rPr lang="en-US" dirty="0" err="1"/>
              <a:t>Instagram</a:t>
            </a:r>
            <a:r>
              <a:rPr lang="en-US" dirty="0"/>
              <a:t>, Facebook, and X (Twitter). It generates compelling captions, relevant hashtags, suitable </a:t>
            </a:r>
            <a:r>
              <a:rPr lang="en-US" dirty="0" err="1"/>
              <a:t>emojis</a:t>
            </a:r>
            <a:r>
              <a:rPr lang="en-US" dirty="0"/>
              <a:t>, and effective call-to-action (CTA) statements while adapting the writing style to the selected platform.</a:t>
            </a:r>
          </a:p>
          <a:p>
            <a:pPr marL="342900" indent="-342900" algn="just">
              <a:buFont typeface="+mj-lt"/>
              <a:buAutoNum type="arabicPeriod"/>
            </a:pPr>
            <a:r>
              <a:rPr lang="en-US" b="1" dirty="0" smtClean="0"/>
              <a:t>Review </a:t>
            </a:r>
            <a:r>
              <a:rPr lang="en-US" b="1" dirty="0"/>
              <a:t>&amp; Optimization </a:t>
            </a:r>
            <a:r>
              <a:rPr lang="en-US" b="1" dirty="0" smtClean="0"/>
              <a:t>Agent</a:t>
            </a:r>
            <a:r>
              <a:rPr lang="en-US" dirty="0"/>
              <a:t> </a:t>
            </a:r>
            <a:r>
              <a:rPr lang="en-US" dirty="0" smtClean="0"/>
              <a:t>evaluates </a:t>
            </a:r>
            <a:r>
              <a:rPr lang="en-US" dirty="0"/>
              <a:t>the generated content for grammar, readability, clarity, consistency, and platform suitability. It refines sentence structure, removes repetitive content, improves engagement, validates hashtag relevance, and ensures the final post maintains a professional tone without altering factual information or introducing unsupported claims.</a:t>
            </a:r>
          </a:p>
          <a:p>
            <a:pPr algn="just"/>
            <a:endParaRPr lang="en-US" dirty="0"/>
          </a:p>
          <a:p>
            <a:pPr algn="just"/>
            <a:r>
              <a:rPr lang="en-US" dirty="0"/>
              <a:t>The solution provides a simple and interactive interface through </a:t>
            </a:r>
            <a:r>
              <a:rPr lang="en-US" dirty="0" err="1"/>
              <a:t>LangFlow's</a:t>
            </a:r>
            <a:r>
              <a:rPr lang="en-US" dirty="0"/>
              <a:t> chat component, allowing users to generate optimized social media content in real time. The modular architecture enables future enhancements such as multilingual content generation, AI-based image captioning, trend-aware hashtag recommendations, sentiment analysis, post scheduling, and direct integration with social media platforms</a:t>
            </a:r>
            <a:r>
              <a:rPr lang="en-US" dirty="0" smtClean="0"/>
              <a:t>.</a:t>
            </a:r>
          </a:p>
          <a:p>
            <a:pPr algn="just"/>
            <a:endParaRPr lang="en-US" dirty="0"/>
          </a:p>
          <a:p>
            <a:pPr algn="just"/>
            <a:r>
              <a:rPr lang="en-US" dirty="0" err="1" smtClean="0"/>
              <a:t>LangFlow</a:t>
            </a:r>
            <a:r>
              <a:rPr lang="en-US" dirty="0" smtClean="0"/>
              <a:t> </a:t>
            </a:r>
            <a:r>
              <a:rPr lang="en-US" dirty="0"/>
              <a:t>orchestrates the workflow between the agents, IBM watsonx.ai provides secure access to enterprise-grade AI services, and Granite Models perform intelligent reasoning, content generation, language refinement, and contextual optimization.</a:t>
            </a:r>
          </a:p>
          <a:p>
            <a:pPr algn="just"/>
            <a:r>
              <a:rPr lang="en-US" dirty="0" smtClean="0"/>
              <a:t>Overall</a:t>
            </a:r>
            <a:r>
              <a:rPr lang="en-US" dirty="0"/>
              <a:t>, the proposed solution delivers an end-to-end intelligent social media assistant that helps businesses, marketers, educators, and content creators produce engaging, accurate, and platform-optimized content efficiently while significantly reducing manual effort and improving content quality.</a:t>
            </a:r>
          </a:p>
          <a:p>
            <a:pPr algn="just"/>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3611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IBM </a:t>
            </a:r>
            <a:r>
              <a:rPr lang="en-US" sz="1800" b="1" dirty="0" err="1"/>
              <a:t>Grainte</a:t>
            </a:r>
            <a:r>
              <a:rPr lang="en-US" sz="1800" b="1" dirty="0"/>
              <a:t> model </a:t>
            </a:r>
            <a:r>
              <a:rPr lang="en-US" sz="1800" dirty="0"/>
              <a:t>(e.g., ibm-granite-3-2-8b-instruct) – Used for natural language understanding, content generation, reasoning, language refinement, and platform-specific content optimization. Granite models generate engaging social media posts and improve their quality based on user requirements</a:t>
            </a:r>
            <a:r>
              <a:rPr lang="en-US" sz="1800" dirty="0" smtClean="0"/>
              <a:t>.</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IBM Cloud </a:t>
            </a:r>
            <a:r>
              <a:rPr lang="en-US" sz="1800" dirty="0"/>
              <a:t>– </a:t>
            </a:r>
            <a:r>
              <a:rPr lang="en-US" sz="1800" dirty="0"/>
              <a:t>Provides a secure, reliable, and scalable cloud infrastructure for developing, deploying, and managing the Social Media Agent. IBM Cloud ensures high availability, security, and efficient execution of AI-powered workflows.</a:t>
            </a:r>
            <a:endParaRPr lang="en-US" sz="1800" dirty="0"/>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IBM Watsonx.ai - </a:t>
            </a:r>
            <a:r>
              <a:rPr lang="en-US" sz="1800" dirty="0"/>
              <a:t>Provides access to IBM Granite foundation models, enabling model deployment, prompt execution, AI governance, and enterprise-grade generative AI capabilities. It powers the intelligent content generation and optimization process used by the multi-agent system.</a:t>
            </a:r>
            <a:endParaRPr lang="en-US" sz="1800" dirty="0"/>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endParaRPr lang="en-US" sz="1800" dirty="0"/>
          </a:p>
          <a:p>
            <a:pPr algn="just"/>
            <a:endParaRPr lang="en-US" dirty="0"/>
          </a:p>
          <a:p>
            <a:pPr algn="just"/>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537590" y="1096577"/>
            <a:ext cx="10283406" cy="4616648"/>
          </a:xfrm>
          <a:prstGeom prst="rect">
            <a:avLst/>
          </a:prstGeom>
          <a:noFill/>
        </p:spPr>
        <p:txBody>
          <a:bodyPr wrap="square" rtlCol="0">
            <a:spAutoFit/>
          </a:bodyPr>
          <a:lstStyle/>
          <a:p>
            <a:pPr algn="just"/>
            <a:endParaRPr lang="en-US" dirty="0"/>
          </a:p>
          <a:p>
            <a:pPr marL="342900" indent="-342900" algn="just">
              <a:buAutoNum type="arabicParenR"/>
            </a:pPr>
            <a:r>
              <a:rPr lang="en-US" b="1" dirty="0" smtClean="0"/>
              <a:t>Chat </a:t>
            </a:r>
            <a:r>
              <a:rPr lang="en-US" b="1" dirty="0"/>
              <a:t>Input </a:t>
            </a:r>
            <a:r>
              <a:rPr lang="en-US" dirty="0"/>
              <a:t>– </a:t>
            </a:r>
            <a:r>
              <a:rPr lang="en-US" dirty="0"/>
              <a:t>Provides the interface where users enter their social media requirements, such as the topic, target platform (LinkedIn, </a:t>
            </a:r>
            <a:r>
              <a:rPr lang="en-US" dirty="0" err="1"/>
              <a:t>Instagram</a:t>
            </a:r>
            <a:r>
              <a:rPr lang="en-US" dirty="0"/>
              <a:t>, Facebook, or X), target audience, campaign objective, tone, and any additional </a:t>
            </a:r>
            <a:r>
              <a:rPr lang="en-US" dirty="0" smtClean="0"/>
              <a:t>instructions.</a:t>
            </a:r>
          </a:p>
          <a:p>
            <a:pPr marL="342900" indent="-342900" algn="just">
              <a:buAutoNum type="arabicParenR"/>
            </a:pPr>
            <a:endParaRPr lang="en-US" dirty="0" smtClean="0"/>
          </a:p>
          <a:p>
            <a:pPr marL="342900" indent="-342900" algn="just">
              <a:buAutoNum type="arabicParenR"/>
            </a:pPr>
            <a:r>
              <a:rPr lang="en-US" b="1" dirty="0" smtClean="0"/>
              <a:t>IBM </a:t>
            </a:r>
            <a:r>
              <a:rPr lang="en-US" b="1" dirty="0" err="1"/>
              <a:t>watsonx</a:t>
            </a:r>
            <a:r>
              <a:rPr lang="en-US" b="1" dirty="0"/>
              <a:t> AI Agent </a:t>
            </a:r>
            <a:r>
              <a:rPr lang="en-US" dirty="0"/>
              <a:t>- </a:t>
            </a:r>
            <a:r>
              <a:rPr lang="en-US" dirty="0"/>
              <a:t>Connects </a:t>
            </a:r>
            <a:r>
              <a:rPr lang="en-US" dirty="0" err="1"/>
              <a:t>LangFlow</a:t>
            </a:r>
            <a:r>
              <a:rPr lang="en-US" dirty="0"/>
              <a:t> with IBM watsonx.ai to access IBM Granite foundation models. It processes user prompts and powers both the Content Generation Agent and the Review &amp; Optimization </a:t>
            </a:r>
            <a:r>
              <a:rPr lang="en-US" dirty="0" smtClean="0"/>
              <a:t>Agent.</a:t>
            </a:r>
          </a:p>
          <a:p>
            <a:pPr marL="342900" indent="-342900" algn="just">
              <a:buAutoNum type="arabicParenR"/>
            </a:pPr>
            <a:endParaRPr lang="en-US" dirty="0" smtClean="0"/>
          </a:p>
          <a:p>
            <a:pPr marL="342900" indent="-342900" algn="just">
              <a:buAutoNum type="arabicParenR"/>
            </a:pPr>
            <a:r>
              <a:rPr lang="en-US" b="1" dirty="0" smtClean="0"/>
              <a:t>Name </a:t>
            </a:r>
            <a:r>
              <a:rPr lang="en-US" b="1" dirty="0"/>
              <a:t>of IBM Granite model </a:t>
            </a:r>
            <a:r>
              <a:rPr lang="en-US" b="1" dirty="0" smtClean="0"/>
              <a:t>- </a:t>
            </a:r>
            <a:r>
              <a:rPr lang="en-US" dirty="0" smtClean="0"/>
              <a:t>Granite-3.2-8B-Instruct </a:t>
            </a:r>
            <a:r>
              <a:rPr lang="en-US" dirty="0"/>
              <a:t>(</a:t>
            </a:r>
            <a:r>
              <a:rPr lang="en-US" dirty="0" err="1"/>
              <a:t>ibm</a:t>
            </a:r>
            <a:r>
              <a:rPr lang="en-US" dirty="0"/>
              <a:t>/granite-3-2-8b-instruct) is used for natural language understanding, content generation, reasoning, and platform-specific optimization to produce high-quality social media </a:t>
            </a:r>
            <a:r>
              <a:rPr lang="en-US" dirty="0" smtClean="0"/>
              <a:t>posts.</a:t>
            </a:r>
          </a:p>
          <a:p>
            <a:pPr marL="342900" indent="-342900" algn="just">
              <a:buAutoNum type="arabicParenR"/>
            </a:pPr>
            <a:endParaRPr lang="en-US" dirty="0" smtClean="0"/>
          </a:p>
          <a:p>
            <a:pPr marL="342900" indent="-342900" algn="just">
              <a:buAutoNum type="arabicParenR"/>
            </a:pPr>
            <a:r>
              <a:rPr lang="en-US" b="1" dirty="0" smtClean="0"/>
              <a:t>AI </a:t>
            </a:r>
            <a:r>
              <a:rPr lang="en-US" b="1" dirty="0"/>
              <a:t>Agent Components</a:t>
            </a:r>
            <a:r>
              <a:rPr lang="en-US" dirty="0"/>
              <a:t> –</a:t>
            </a:r>
          </a:p>
          <a:p>
            <a:pPr marL="285750" lvl="3" indent="-285750" algn="just">
              <a:buFont typeface="Arial" panose="020B0604020202020204" pitchFamily="34" charset="0"/>
              <a:buChar char="•"/>
            </a:pPr>
            <a:r>
              <a:rPr lang="en-US" b="1" dirty="0"/>
              <a:t>Content Generation Agent:</a:t>
            </a:r>
            <a:r>
              <a:rPr lang="en-US" dirty="0"/>
              <a:t> Generates engaging, platform-specific social media posts, including captions, hashtags, </a:t>
            </a:r>
            <a:r>
              <a:rPr lang="en-US" dirty="0" err="1"/>
              <a:t>emojis</a:t>
            </a:r>
            <a:r>
              <a:rPr lang="en-US" dirty="0"/>
              <a:t> (when appropriate), and call-to-action (CTA).</a:t>
            </a:r>
          </a:p>
          <a:p>
            <a:pPr marL="285750" indent="-285750" algn="just">
              <a:buFont typeface="Arial" panose="020B0604020202020204" pitchFamily="34" charset="0"/>
              <a:buChar char="•"/>
            </a:pPr>
            <a:r>
              <a:rPr lang="en-US" b="1" dirty="0"/>
              <a:t>Review &amp; Optimization Agent:</a:t>
            </a:r>
            <a:r>
              <a:rPr lang="en-US" dirty="0"/>
              <a:t> Reviews and refines the generated content by improving grammar, readability, engagement, consistency, and platform suitability before producing the final output</a:t>
            </a:r>
            <a:r>
              <a:rPr lang="en-US" dirty="0" smtClean="0"/>
              <a:t>.</a:t>
            </a:r>
          </a:p>
          <a:p>
            <a:pPr marL="285750" indent="-285750" algn="just">
              <a:buFont typeface="Arial" panose="020B0604020202020204" pitchFamily="34" charset="0"/>
              <a:buChar char="•"/>
            </a:pPr>
            <a:endParaRPr lang="en-US" dirty="0" smtClean="0"/>
          </a:p>
          <a:p>
            <a:pPr marL="342900" indent="-342900" algn="just">
              <a:buFont typeface="+mj-lt"/>
              <a:buAutoNum type="arabicParenR" startAt="5"/>
            </a:pPr>
            <a:r>
              <a:rPr lang="en-US" b="1" dirty="0" smtClean="0"/>
              <a:t>Chat </a:t>
            </a:r>
            <a:r>
              <a:rPr lang="en-US" b="1" dirty="0"/>
              <a:t>output </a:t>
            </a:r>
            <a:r>
              <a:rPr lang="en-US" b="1" dirty="0" smtClean="0"/>
              <a:t>-</a:t>
            </a:r>
            <a:r>
              <a:rPr lang="en-US" dirty="0"/>
              <a:t>Displays the final optimized social media post, including the title, platform, caption, hashtags, and CTA, ready for </a:t>
            </a:r>
            <a:r>
              <a:rPr lang="en-US" dirty="0" smtClean="0"/>
              <a:t>publishing.</a:t>
            </a:r>
          </a:p>
          <a:p>
            <a:pPr marL="342900" indent="-342900" algn="just">
              <a:buFont typeface="+mj-lt"/>
              <a:buAutoNum type="arabicParenR" startAt="5"/>
            </a:pPr>
            <a:endParaRPr lang="en-US" dirty="0" smtClean="0"/>
          </a:p>
          <a:p>
            <a:pPr marL="342900" indent="-342900" algn="just">
              <a:buFont typeface="+mj-lt"/>
              <a:buAutoNum type="arabicParenR" startAt="5"/>
            </a:pPr>
            <a:r>
              <a:rPr lang="en-US" b="1" dirty="0" smtClean="0"/>
              <a:t>Agent Instructions</a:t>
            </a:r>
            <a:r>
              <a:rPr lang="en-US" dirty="0" smtClean="0"/>
              <a:t> </a:t>
            </a:r>
            <a:r>
              <a:rPr lang="en-US" dirty="0"/>
              <a:t>– Stores the system prompts and agent instructions that define the behavior, responsibilities, and output format of each AI agent, ensuring consistent and high-quality responses throughout the workflow</a:t>
            </a:r>
            <a:r>
              <a:rPr lang="en-US" dirty="0" smtClean="0"/>
              <a:t>.</a:t>
            </a:r>
            <a:r>
              <a:rPr lang="en-US" dirty="0" smtClean="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7941" r="10735" b="4498"/>
          <a:stretch/>
        </p:blipFill>
        <p:spPr>
          <a:xfrm>
            <a:off x="1114425" y="1200655"/>
            <a:ext cx="10901363" cy="540016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925" y="906462"/>
            <a:ext cx="10563225" cy="562292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t>
            </a:r>
            <a:r>
              <a:rPr lang="en-US" sz="3200" b="1" dirty="0" err="1"/>
              <a:t>Agentic</a:t>
            </a:r>
            <a:r>
              <a:rPr lang="en-US" sz="3200" b="1" dirty="0"/>
              <a:t> AI in the solution </a:t>
            </a:r>
            <a:endParaRPr lang="en-IN" sz="32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5262979"/>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a:t>Agentic</a:t>
            </a:r>
            <a:r>
              <a:rPr lang="en-US" dirty="0"/>
              <a:t> AI serves as the core intelligence of the </a:t>
            </a:r>
            <a:r>
              <a:rPr lang="en-US" dirty="0" smtClean="0"/>
              <a:t>proposed </a:t>
            </a:r>
            <a:r>
              <a:rPr lang="en-US" b="1" dirty="0" smtClean="0"/>
              <a:t>Social </a:t>
            </a:r>
            <a:r>
              <a:rPr lang="en-US" b="1" dirty="0"/>
              <a:t>Media Agent</a:t>
            </a:r>
            <a:r>
              <a:rPr lang="en-US" dirty="0"/>
              <a:t> by enabling multiple AI agents to collaborate autonomously and perform specialized tasks. Instead of relying on a single AI model, the solution divides the workflow into dedicated agents, resulting in more accurate, engaging, and high-quality social media content.</a:t>
            </a:r>
          </a:p>
          <a:p>
            <a:pPr marL="285750" indent="-285750" algn="just">
              <a:buFont typeface="Arial" panose="020B0604020202020204" pitchFamily="34" charset="0"/>
              <a:buChar char="•"/>
            </a:pPr>
            <a:r>
              <a:rPr lang="en-US" dirty="0"/>
              <a:t>The </a:t>
            </a:r>
            <a:r>
              <a:rPr lang="en-US" b="1" dirty="0"/>
              <a:t>Content Generation Agent</a:t>
            </a:r>
            <a:r>
              <a:rPr lang="en-US" dirty="0"/>
              <a:t> understands the user's requirements, such as the topic, target platform, audience, objective, and tone, and generates platform-specific social media posts with relevant hashtags, </a:t>
            </a:r>
            <a:r>
              <a:rPr lang="en-US" dirty="0" err="1"/>
              <a:t>emojis</a:t>
            </a:r>
            <a:r>
              <a:rPr lang="en-US" dirty="0"/>
              <a:t> (when appropriate), and an effective call-to-action.</a:t>
            </a:r>
          </a:p>
          <a:p>
            <a:pPr marL="285750" indent="-285750" algn="just">
              <a:buFont typeface="Arial" panose="020B0604020202020204" pitchFamily="34" charset="0"/>
              <a:buChar char="•"/>
            </a:pPr>
            <a:r>
              <a:rPr lang="en-US" dirty="0"/>
              <a:t>The generated content is then processed by the </a:t>
            </a:r>
            <a:r>
              <a:rPr lang="en-US" b="1" dirty="0"/>
              <a:t>Review &amp; Optimization Agent</a:t>
            </a:r>
            <a:r>
              <a:rPr lang="en-US" dirty="0"/>
              <a:t>, which improves grammar, readability, consistency, and platform-specific tone while ensuring the content is polished, engaging, and ready for publication.</a:t>
            </a:r>
          </a:p>
          <a:p>
            <a:pPr marL="285750" indent="-285750" algn="just">
              <a:buFont typeface="Arial" panose="020B0604020202020204" pitchFamily="34" charset="0"/>
              <a:buChar char="•"/>
            </a:pPr>
            <a:r>
              <a:rPr lang="en-US" b="1" dirty="0" err="1"/>
              <a:t>LangFlow</a:t>
            </a:r>
            <a:r>
              <a:rPr lang="en-US" dirty="0"/>
              <a:t> orchestrates the interaction between the agents, while </a:t>
            </a:r>
            <a:r>
              <a:rPr lang="en-US" b="1" dirty="0"/>
              <a:t>IBM watsonx.ai</a:t>
            </a:r>
            <a:r>
              <a:rPr lang="en-US" dirty="0"/>
              <a:t> and </a:t>
            </a:r>
            <a:r>
              <a:rPr lang="en-US" b="1" dirty="0"/>
              <a:t>IBM Granite models</a:t>
            </a:r>
            <a:r>
              <a:rPr lang="en-US" dirty="0"/>
              <a:t> provide advanced language understanding, reasoning, and content generation capabilities, enabling an efficient and scalable multi-agent workflow.</a:t>
            </a:r>
          </a:p>
          <a:p>
            <a:pPr algn="just"/>
            <a:endParaRPr lang="en-US" dirty="0"/>
          </a:p>
          <a:p>
            <a:pPr marL="285750" indent="-285750" algn="just">
              <a:buFont typeface="Arial" panose="020B0604020202020204" pitchFamily="34" charset="0"/>
              <a:buChar char="•"/>
            </a:pPr>
            <a:r>
              <a:rPr lang="en-US" b="1" dirty="0"/>
              <a:t>By leveraging </a:t>
            </a:r>
            <a:r>
              <a:rPr lang="en-US" b="1" dirty="0" err="1"/>
              <a:t>Agentic</a:t>
            </a:r>
            <a:r>
              <a:rPr lang="en-US" b="1" dirty="0"/>
              <a:t> AI, the solution delivers:</a:t>
            </a:r>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dirty="0" smtClean="0"/>
              <a:t>Autonomous </a:t>
            </a:r>
            <a:r>
              <a:rPr lang="en-US" dirty="0"/>
              <a:t>multi-agent collaboration for content creation and review.</a:t>
            </a:r>
          </a:p>
          <a:p>
            <a:pPr marL="285750" indent="-285750" algn="just">
              <a:buFont typeface="Arial" panose="020B0604020202020204" pitchFamily="34" charset="0"/>
              <a:buChar char="•"/>
            </a:pPr>
            <a:r>
              <a:rPr lang="en-US" dirty="0" smtClean="0"/>
              <a:t>High-quality</a:t>
            </a:r>
            <a:r>
              <a:rPr lang="en-US" dirty="0"/>
              <a:t>, platform-specific social media posts.</a:t>
            </a:r>
          </a:p>
          <a:p>
            <a:pPr marL="285750" indent="-285750" algn="just">
              <a:buFont typeface="Arial" panose="020B0604020202020204" pitchFamily="34" charset="0"/>
              <a:buChar char="•"/>
            </a:pPr>
            <a:r>
              <a:rPr lang="en-US" dirty="0" smtClean="0"/>
              <a:t>Improved </a:t>
            </a:r>
            <a:r>
              <a:rPr lang="en-US" dirty="0"/>
              <a:t>consistency, readability, and engagement.</a:t>
            </a:r>
          </a:p>
          <a:p>
            <a:pPr marL="285750" indent="-285750" algn="just">
              <a:buFont typeface="Arial" panose="020B0604020202020204" pitchFamily="34" charset="0"/>
              <a:buChar char="•"/>
            </a:pPr>
            <a:r>
              <a:rPr lang="en-US" dirty="0" smtClean="0"/>
              <a:t>Reduced </a:t>
            </a:r>
            <a:r>
              <a:rPr lang="en-US" dirty="0"/>
              <a:t>manual effort and faster content generation.</a:t>
            </a:r>
          </a:p>
          <a:p>
            <a:pPr marL="285750" indent="-285750" algn="just">
              <a:buFont typeface="Arial" panose="020B0604020202020204" pitchFamily="34" charset="0"/>
              <a:buChar char="•"/>
            </a:pPr>
            <a:r>
              <a:rPr lang="en-US" dirty="0" smtClean="0"/>
              <a:t>A </a:t>
            </a:r>
            <a:r>
              <a:rPr lang="en-US" dirty="0"/>
              <a:t>scalable architecture that can be extended with additional agents such as hashtag recommendation, sentiment analysis, multilingual translation, image caption generation, and social media scheduling.</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13754 </a:t>
            </a:r>
            <a:r>
              <a:rPr lang="en-US" dirty="0"/>
              <a:t>token are used</a:t>
            </a:r>
          </a:p>
        </p:txBody>
      </p:sp>
      <p:sp>
        <p:nvSpPr>
          <p:cNvPr id="14" name="TextBox 13">
            <a:extLst>
              <a:ext uri="{FF2B5EF4-FFF2-40B4-BE49-F238E27FC236}">
                <a16:creationId xmlns=""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305" y="2451181"/>
            <a:ext cx="5598893" cy="2652976"/>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7887" y="2451181"/>
            <a:ext cx="5735027" cy="2710331"/>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400" b="1" dirty="0" err="1">
                <a:sym typeface="Times New Roman"/>
              </a:rPr>
              <a:t>Langflow</a:t>
            </a:r>
            <a:r>
              <a:rPr lang="en-US" sz="2400" b="1" dirty="0">
                <a:sym typeface="Times New Roman"/>
              </a:rPr>
              <a: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34109" r="21728"/>
          <a:stretch/>
        </p:blipFill>
        <p:spPr>
          <a:xfrm>
            <a:off x="957263" y="1086178"/>
            <a:ext cx="9644062" cy="544321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400" b="1" dirty="0" err="1">
                <a:sym typeface="Times New Roman"/>
              </a:rPr>
              <a:t>Langflow</a:t>
            </a:r>
            <a:r>
              <a:rPr lang="en-US" sz="2400" b="1" dirty="0">
                <a:sym typeface="Times New Roman"/>
              </a:rPr>
              <a: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34471" r="21339"/>
          <a:stretch/>
        </p:blipFill>
        <p:spPr>
          <a:xfrm>
            <a:off x="1866900" y="1048798"/>
            <a:ext cx="9620250" cy="5388884"/>
          </a:xfrm>
          <a:prstGeom prst="rect">
            <a:avLst/>
          </a:prstGeom>
        </p:spPr>
      </p:pic>
    </p:spTree>
    <p:extLst>
      <p:ext uri="{BB962C8B-B14F-4D97-AF65-F5344CB8AC3E}">
        <p14:creationId xmlns:p14="http://schemas.microsoft.com/office/powerpoint/2010/main" val="3657612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19888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849820"/>
            <a:ext cx="10767060" cy="5940088"/>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The </a:t>
            </a:r>
            <a:r>
              <a:rPr lang="en-US" sz="1600" dirty="0" smtClean="0"/>
              <a:t>proposed </a:t>
            </a:r>
            <a:r>
              <a:rPr lang="en-US" sz="1600" b="1" dirty="0" smtClean="0"/>
              <a:t>Social</a:t>
            </a:r>
            <a:r>
              <a:rPr lang="en-US" sz="1600" dirty="0" smtClean="0"/>
              <a:t> </a:t>
            </a:r>
            <a:r>
              <a:rPr lang="en-US" sz="1600" b="1" dirty="0"/>
              <a:t>Media Agent </a:t>
            </a:r>
            <a:r>
              <a:rPr lang="en-US" sz="1600" dirty="0"/>
              <a:t>combines </a:t>
            </a:r>
            <a:r>
              <a:rPr lang="en-US" sz="1600" dirty="0" err="1"/>
              <a:t>LangFlow</a:t>
            </a:r>
            <a:r>
              <a:rPr lang="en-US" sz="1600" dirty="0"/>
              <a:t>, IBM watsonx.ai, and IBM Granite Models in a multi-agent architecture for intelligent social media content creation. Unlike traditional AI content generators that use a single prompt-response approach, this solution separates content generation and content review into two specialized AI agents. The </a:t>
            </a:r>
            <a:r>
              <a:rPr lang="en-US" sz="1600" b="1" dirty="0"/>
              <a:t>Content Generation Agent </a:t>
            </a:r>
            <a:r>
              <a:rPr lang="en-US" sz="1600" dirty="0"/>
              <a:t>creates engaging, platform-specific posts, while the </a:t>
            </a:r>
            <a:r>
              <a:rPr lang="en-US" sz="1600" b="1" dirty="0"/>
              <a:t>Review &amp; Optimization Agent </a:t>
            </a:r>
            <a:r>
              <a:rPr lang="en-US" sz="1600" dirty="0"/>
              <a:t>refines them for grammar, readability, consistency, engagement, and platform suitability. This collaborative workflow produces high-quality, reliable, and publication-ready social media content</a:t>
            </a:r>
            <a:r>
              <a:rPr lang="en-US" sz="1600" dirty="0" smtClean="0"/>
              <a:t>.</a:t>
            </a:r>
          </a:p>
          <a:p>
            <a:pPr marL="285750" indent="-285750" algn="just">
              <a:buFont typeface="Arial" panose="020B0604020202020204" pitchFamily="34" charset="0"/>
              <a:buChar char="•"/>
            </a:pPr>
            <a:r>
              <a:rPr lang="en-US" sz="1600" b="1" dirty="0" smtClean="0"/>
              <a:t>Key </a:t>
            </a:r>
            <a:r>
              <a:rPr lang="en-US" sz="1600" b="1" dirty="0"/>
              <a:t>Novel Features</a:t>
            </a:r>
          </a:p>
          <a:p>
            <a:pPr marL="342900" indent="-342900" algn="just">
              <a:buFont typeface="+mj-lt"/>
              <a:buAutoNum type="arabicPeriod"/>
            </a:pPr>
            <a:r>
              <a:rPr lang="en-US" sz="1600" b="1" dirty="0"/>
              <a:t>Multi-Agent Architecture:</a:t>
            </a:r>
            <a:r>
              <a:rPr lang="en-US" sz="1600" dirty="0"/>
              <a:t> Uses dedicated AI agents for content generation and quality optimization instead of a single AI model.</a:t>
            </a:r>
          </a:p>
          <a:p>
            <a:pPr marL="342900" indent="-342900" algn="just">
              <a:buFont typeface="+mj-lt"/>
              <a:buAutoNum type="arabicPeriod"/>
            </a:pPr>
            <a:r>
              <a:rPr lang="en-US" sz="1600" b="1" dirty="0"/>
              <a:t>Platform-Specific Content Creation:</a:t>
            </a:r>
            <a:r>
              <a:rPr lang="en-US" sz="1600" dirty="0"/>
              <a:t> Automatically adapts the writing style for LinkedIn, </a:t>
            </a:r>
            <a:r>
              <a:rPr lang="en-US" sz="1600" dirty="0" err="1"/>
              <a:t>Instagram</a:t>
            </a:r>
            <a:r>
              <a:rPr lang="en-US" sz="1600" dirty="0"/>
              <a:t>, Facebook, and X (Twitter).</a:t>
            </a:r>
          </a:p>
          <a:p>
            <a:pPr marL="342900" indent="-342900" algn="just">
              <a:buFont typeface="+mj-lt"/>
              <a:buAutoNum type="arabicPeriod"/>
            </a:pPr>
            <a:r>
              <a:rPr lang="en-US" sz="1600" b="1" dirty="0"/>
              <a:t>AI-Based Content Optimization:</a:t>
            </a:r>
            <a:r>
              <a:rPr lang="en-US" sz="1600" dirty="0"/>
              <a:t> Enhances grammar, readability, </a:t>
            </a:r>
            <a:endParaRPr lang="en-US" sz="1600" dirty="0" smtClean="0"/>
          </a:p>
          <a:p>
            <a:pPr marL="342900" indent="-342900" algn="just">
              <a:buFont typeface="+mj-lt"/>
              <a:buAutoNum type="arabicPeriod"/>
            </a:pPr>
            <a:r>
              <a:rPr lang="en-US" sz="1600" dirty="0" smtClean="0"/>
              <a:t>engagement</a:t>
            </a:r>
            <a:r>
              <a:rPr lang="en-US" sz="1600" dirty="0"/>
              <a:t>, hashtag relevance, and call-to-action before publication.</a:t>
            </a:r>
          </a:p>
          <a:p>
            <a:pPr marL="342900" indent="-342900" algn="just">
              <a:buFont typeface="+mj-lt"/>
              <a:buAutoNum type="arabicPeriod"/>
            </a:pPr>
            <a:r>
              <a:rPr lang="en-US" sz="1600" b="1" dirty="0"/>
              <a:t>Visual Workflow Orchestration:</a:t>
            </a:r>
            <a:r>
              <a:rPr lang="en-US" sz="1600" dirty="0"/>
              <a:t> Uses </a:t>
            </a:r>
            <a:r>
              <a:rPr lang="en-US" sz="1600" dirty="0" err="1"/>
              <a:t>LangFlow's</a:t>
            </a:r>
            <a:r>
              <a:rPr lang="en-US" sz="1600" dirty="0"/>
              <a:t> no-code visual interface to design and manage the complete AI workflow.</a:t>
            </a:r>
          </a:p>
          <a:p>
            <a:pPr marL="342900" indent="-342900" algn="just">
              <a:buFont typeface="+mj-lt"/>
              <a:buAutoNum type="arabicPeriod"/>
            </a:pPr>
            <a:r>
              <a:rPr lang="en-US" sz="1600" b="1" dirty="0"/>
              <a:t>Enterprise AI Integration:</a:t>
            </a:r>
            <a:r>
              <a:rPr lang="en-US" sz="1600" dirty="0"/>
              <a:t> Leverages IBM watsonx.ai and IBM Granite Models for secure, scalable, and enterprise-grade generative AI.</a:t>
            </a:r>
          </a:p>
          <a:p>
            <a:pPr marL="342900" indent="-342900" algn="just">
              <a:buFont typeface="+mj-lt"/>
              <a:buAutoNum type="arabicPeriod"/>
            </a:pPr>
            <a:r>
              <a:rPr lang="en-US" sz="1600" b="1" dirty="0"/>
              <a:t>Scalable Design:</a:t>
            </a:r>
            <a:r>
              <a:rPr lang="en-US" sz="1600" dirty="0"/>
              <a:t> The modular architecture allows easy integration of future capabilities such as multilingual content generation, sentiment analysis, trend-aware hashtag recommendations, AI image captioning, and social media </a:t>
            </a:r>
            <a:r>
              <a:rPr lang="en-US" sz="1600" dirty="0" smtClean="0"/>
              <a:t>scheduling.</a:t>
            </a:r>
          </a:p>
          <a:p>
            <a:pPr algn="just"/>
            <a:r>
              <a:rPr lang="en-US" sz="1600" dirty="0" smtClean="0"/>
              <a:t>It </a:t>
            </a:r>
            <a:r>
              <a:rPr lang="en-US" sz="1600" dirty="0"/>
              <a:t>offers an intelligent, scalable, and enterprise-ready approach to social media content creation by combining multi-agent collaboration with IBM's generative AI ecosystem, delivering faster, more engaging, and publication-ready social media content</a:t>
            </a:r>
            <a:r>
              <a:rPr lang="en-US" sz="1600" dirty="0" smtClean="0"/>
              <a:t>.</a:t>
            </a:r>
            <a:endParaRPr lang="en-IN" sz="1200"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https</a:t>
            </a:r>
            <a:r>
              <a:rPr lang="en-US" sz="1850" dirty="0">
                <a:solidFill>
                  <a:srgbClr val="2B3541"/>
                </a:solidFill>
                <a:latin typeface="Times New Roman"/>
                <a:ea typeface="Times New Roman"/>
                <a:cs typeface="Times New Roman"/>
                <a:sym typeface="Times New Roman"/>
              </a:rPr>
              <a:t>://github.com/hinaxipatel/FDP-IBM</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Rectangle 1"/>
          <p:cNvSpPr/>
          <p:nvPr/>
        </p:nvSpPr>
        <p:spPr>
          <a:xfrm>
            <a:off x="971549" y="1124746"/>
            <a:ext cx="10044113" cy="5632311"/>
          </a:xfrm>
          <a:prstGeom prst="rect">
            <a:avLst/>
          </a:prstGeom>
        </p:spPr>
        <p:txBody>
          <a:bodyPr wrap="square">
            <a:spAutoFit/>
          </a:bodyPr>
          <a:lstStyle/>
          <a:p>
            <a:pPr marL="342900" indent="-342900">
              <a:buFont typeface="+mj-lt"/>
              <a:buAutoNum type="arabicPeriod"/>
            </a:pPr>
            <a:r>
              <a:rPr lang="en-US" sz="1800" b="1" dirty="0"/>
              <a:t>Trend Analysis: </a:t>
            </a:r>
            <a:r>
              <a:rPr lang="en-US" sz="1800" dirty="0"/>
              <a:t>Integrate real-time social media trend analysis to generate content based on trending topics, hashtags, and current events</a:t>
            </a:r>
            <a:r>
              <a:rPr lang="en-US" sz="1800" dirty="0" smtClean="0"/>
              <a:t>.</a:t>
            </a:r>
          </a:p>
          <a:p>
            <a:pPr marL="342900" indent="-342900">
              <a:buFont typeface="+mj-lt"/>
              <a:buAutoNum type="arabicPeriod"/>
            </a:pPr>
            <a:endParaRPr lang="en-US" sz="1800" dirty="0" smtClean="0"/>
          </a:p>
          <a:p>
            <a:pPr marL="342900" indent="-342900">
              <a:buFont typeface="+mj-lt"/>
              <a:buAutoNum type="arabicPeriod"/>
            </a:pPr>
            <a:r>
              <a:rPr lang="en-US" sz="1800" b="1" dirty="0" smtClean="0"/>
              <a:t>Multilingual </a:t>
            </a:r>
            <a:r>
              <a:rPr lang="en-US" sz="1800" b="1" dirty="0"/>
              <a:t>Content Generation: </a:t>
            </a:r>
            <a:r>
              <a:rPr lang="en-US" sz="1800" dirty="0"/>
              <a:t>Support multiple languages to help businesses and creators reach global audiences</a:t>
            </a:r>
            <a:r>
              <a:rPr lang="en-US" sz="1800" dirty="0" smtClean="0"/>
              <a:t>.</a:t>
            </a:r>
          </a:p>
          <a:p>
            <a:pPr marL="342900" indent="-342900">
              <a:buFont typeface="+mj-lt"/>
              <a:buAutoNum type="arabicPeriod"/>
            </a:pPr>
            <a:endParaRPr lang="en-US" sz="1800" dirty="0" smtClean="0"/>
          </a:p>
          <a:p>
            <a:pPr marL="342900" indent="-342900">
              <a:buFont typeface="+mj-lt"/>
              <a:buAutoNum type="arabicPeriod"/>
            </a:pPr>
            <a:r>
              <a:rPr lang="en-US" sz="1800" b="1" dirty="0" smtClean="0"/>
              <a:t>AI </a:t>
            </a:r>
            <a:r>
              <a:rPr lang="en-US" sz="1800" b="1" dirty="0"/>
              <a:t>Image Generation: </a:t>
            </a:r>
            <a:r>
              <a:rPr lang="en-US" sz="1800" dirty="0"/>
              <a:t>Integrate image generation models to automatically create visually appealing graphics and social media </a:t>
            </a:r>
            <a:r>
              <a:rPr lang="en-US" sz="1800" dirty="0" err="1"/>
              <a:t>creatives</a:t>
            </a:r>
            <a:r>
              <a:rPr lang="en-US" sz="1800" dirty="0"/>
              <a:t> that complement the generated captions</a:t>
            </a:r>
            <a:r>
              <a:rPr lang="en-US" sz="1800" dirty="0" smtClean="0"/>
              <a:t>.</a:t>
            </a:r>
          </a:p>
          <a:p>
            <a:pPr marL="342900" indent="-342900">
              <a:buFont typeface="+mj-lt"/>
              <a:buAutoNum type="arabicPeriod"/>
            </a:pPr>
            <a:endParaRPr lang="en-US" sz="1800" dirty="0" smtClean="0"/>
          </a:p>
          <a:p>
            <a:pPr marL="342900" indent="-342900">
              <a:buFont typeface="+mj-lt"/>
              <a:buAutoNum type="arabicPeriod"/>
            </a:pPr>
            <a:r>
              <a:rPr lang="en-US" sz="1800" b="1" dirty="0" smtClean="0"/>
              <a:t>Social </a:t>
            </a:r>
            <a:r>
              <a:rPr lang="en-US" sz="1800" b="1" dirty="0"/>
              <a:t>Media Scheduling: </a:t>
            </a:r>
            <a:r>
              <a:rPr lang="en-US" sz="1800" dirty="0"/>
              <a:t>Connect with platforms such as LinkedIn, Facebook, </a:t>
            </a:r>
            <a:r>
              <a:rPr lang="en-US" sz="1800" dirty="0" err="1"/>
              <a:t>Instagram</a:t>
            </a:r>
            <a:r>
              <a:rPr lang="en-US" sz="1800" dirty="0"/>
              <a:t>, and X (Twitter) APIs to schedule and publish posts automatically</a:t>
            </a:r>
            <a:r>
              <a:rPr lang="en-US" sz="1800" dirty="0" smtClean="0"/>
              <a:t>.</a:t>
            </a:r>
          </a:p>
          <a:p>
            <a:pPr marL="342900" indent="-342900">
              <a:buFont typeface="+mj-lt"/>
              <a:buAutoNum type="arabicPeriod"/>
            </a:pPr>
            <a:endParaRPr lang="en-US" sz="1800" dirty="0" smtClean="0"/>
          </a:p>
          <a:p>
            <a:pPr marL="342900" indent="-342900">
              <a:buFont typeface="+mj-lt"/>
              <a:buAutoNum type="arabicPeriod"/>
            </a:pPr>
            <a:r>
              <a:rPr lang="en-US" sz="1800" b="1" dirty="0" smtClean="0"/>
              <a:t>Performance </a:t>
            </a:r>
            <a:r>
              <a:rPr lang="en-US" sz="1800" b="1" dirty="0"/>
              <a:t>Analytics: </a:t>
            </a:r>
            <a:r>
              <a:rPr lang="en-US" sz="1800" dirty="0"/>
              <a:t>Analyze post engagement metrics such as likes, comments, shares, impressions, and click-through rates to recommend content improvements</a:t>
            </a:r>
            <a:r>
              <a:rPr lang="en-US" sz="1800" dirty="0" smtClean="0"/>
              <a:t>.</a:t>
            </a:r>
          </a:p>
          <a:p>
            <a:pPr marL="342900" indent="-342900">
              <a:buFont typeface="+mj-lt"/>
              <a:buAutoNum type="arabicPeriod"/>
            </a:pPr>
            <a:endParaRPr lang="en-US" sz="1800" dirty="0" smtClean="0"/>
          </a:p>
          <a:p>
            <a:pPr marL="342900" indent="-342900">
              <a:buFont typeface="+mj-lt"/>
              <a:buAutoNum type="arabicPeriod"/>
            </a:pPr>
            <a:r>
              <a:rPr lang="en-US" sz="1800" b="1" dirty="0" smtClean="0"/>
              <a:t>Sentiment </a:t>
            </a:r>
            <a:r>
              <a:rPr lang="en-US" sz="1800" b="1" dirty="0"/>
              <a:t>Analysis: </a:t>
            </a:r>
            <a:r>
              <a:rPr lang="en-US" sz="1800" dirty="0"/>
              <a:t>Evaluate audience sentiment from comments and reactions to help users understand </a:t>
            </a:r>
            <a:r>
              <a:rPr lang="en-US" sz="1800" dirty="0" smtClean="0"/>
              <a:t>public perception </a:t>
            </a:r>
            <a:r>
              <a:rPr lang="en-US" sz="1800" dirty="0"/>
              <a:t>and improve future </a:t>
            </a:r>
            <a:r>
              <a:rPr lang="en-US" sz="1800" dirty="0" smtClean="0"/>
              <a:t>content.</a:t>
            </a:r>
          </a:p>
          <a:p>
            <a:pPr marL="342900" indent="-342900">
              <a:buFont typeface="+mj-lt"/>
              <a:buAutoNum type="arabicPeriod"/>
            </a:pPr>
            <a:endParaRPr lang="en-US" sz="1800" dirty="0" smtClean="0"/>
          </a:p>
          <a:p>
            <a:pPr marL="342900" indent="-342900">
              <a:buFont typeface="+mj-lt"/>
              <a:buAutoNum type="arabicPeriod"/>
            </a:pPr>
            <a:r>
              <a:rPr lang="en-US" sz="1800" b="1" dirty="0" smtClean="0"/>
              <a:t>Content </a:t>
            </a:r>
            <a:r>
              <a:rPr lang="en-US" sz="1800" b="1" dirty="0"/>
              <a:t>Calendar Management: </a:t>
            </a:r>
            <a:r>
              <a:rPr lang="en-US" sz="1800" dirty="0"/>
              <a:t>Automatically generate weekly or monthly content calendars based on marketing goals and important events.</a:t>
            </a:r>
            <a:endParaRPr lang="en-IN" sz="1800" dirty="0"/>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2" name="Picture 1"/>
          <p:cNvPicPr>
            <a:picLocks noChangeAspect="1"/>
          </p:cNvPicPr>
          <p:nvPr/>
        </p:nvPicPr>
        <p:blipFill>
          <a:blip r:embed="rId3"/>
          <a:stretch>
            <a:fillRect/>
          </a:stretch>
        </p:blipFill>
        <p:spPr>
          <a:xfrm>
            <a:off x="748983" y="1247629"/>
            <a:ext cx="4923155" cy="3957587"/>
          </a:xfrm>
          <a:prstGeom prst="rect">
            <a:avLst/>
          </a:prstGeom>
        </p:spPr>
      </p:pic>
      <p:pic>
        <p:nvPicPr>
          <p:cNvPr id="5" name="Picture 4"/>
          <p:cNvPicPr>
            <a:picLocks noChangeAspect="1"/>
          </p:cNvPicPr>
          <p:nvPr/>
        </p:nvPicPr>
        <p:blipFill>
          <a:blip r:embed="rId4"/>
          <a:stretch>
            <a:fillRect/>
          </a:stretch>
        </p:blipFill>
        <p:spPr>
          <a:xfrm>
            <a:off x="6423949" y="1247629"/>
            <a:ext cx="5247699" cy="395758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3" name="Picture 2"/>
          <p:cNvPicPr>
            <a:picLocks noChangeAspect="1"/>
          </p:cNvPicPr>
          <p:nvPr/>
        </p:nvPicPr>
        <p:blipFill>
          <a:blip r:embed="rId2"/>
          <a:stretch>
            <a:fillRect/>
          </a:stretch>
        </p:blipFill>
        <p:spPr>
          <a:xfrm>
            <a:off x="3172045" y="1214436"/>
            <a:ext cx="5808481" cy="4371975"/>
          </a:xfrm>
          <a:prstGeom prst="rect">
            <a:avLst/>
          </a:prstGeom>
        </p:spPr>
      </p:pic>
    </p:spTree>
    <p:extLst>
      <p:ext uri="{BB962C8B-B14F-4D97-AF65-F5344CB8AC3E}">
        <p14:creationId xmlns:p14="http://schemas.microsoft.com/office/powerpoint/2010/main" val="1595983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2" name="Picture 1"/>
          <p:cNvPicPr>
            <a:picLocks noChangeAspect="1"/>
          </p:cNvPicPr>
          <p:nvPr/>
        </p:nvPicPr>
        <p:blipFill>
          <a:blip r:embed="rId2"/>
          <a:stretch>
            <a:fillRect/>
          </a:stretch>
        </p:blipFill>
        <p:spPr>
          <a:xfrm>
            <a:off x="2071688" y="1095374"/>
            <a:ext cx="8248650" cy="5153025"/>
          </a:xfrm>
          <a:prstGeom prst="rect">
            <a:avLst/>
          </a:prstGeom>
        </p:spPr>
      </p:pic>
    </p:spTree>
    <p:extLst>
      <p:ext uri="{BB962C8B-B14F-4D97-AF65-F5344CB8AC3E}">
        <p14:creationId xmlns:p14="http://schemas.microsoft.com/office/powerpoint/2010/main" val="3136478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7182" y="1477578"/>
            <a:ext cx="7784681" cy="470752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1761</Words>
  <Application>Microsoft Office PowerPoint</Application>
  <PresentationFormat>Widescreen</PresentationFormat>
  <Paragraphs>127</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Windows User</cp:lastModifiedBy>
  <cp:revision>13</cp:revision>
  <dcterms:created xsi:type="dcterms:W3CDTF">2025-07-08T05:06:56Z</dcterms:created>
  <dcterms:modified xsi:type="dcterms:W3CDTF">2026-06-27T09:37:26Z</dcterms:modified>
</cp:coreProperties>
</file>